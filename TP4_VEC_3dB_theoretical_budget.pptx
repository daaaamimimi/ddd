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用途：一页理论评审材料，解释3 dB为何可能与某个有限带宽/受限均衡的50G NRZ实现不匹配。不能由“用户仿真未达标”直接推出所有50G NRZ实现均不可达，也不能由这里的示例宣称用户的通道模型已经得到验证。
1. 定义及版本边界
本页按 VEC=20 log10(AV/EH_p) 分析。3 dB要求 EH_p/AV&gt;=10^(-3/20)=0.7079457844，闭眼预算D=0.2920542156。AV是同一处理链路的1/0条件均值差，不是峰峰值。OIF-CEI-05.2 13.3.11.1.1（CEI-28G-VSR，仅用作NRZ定义与处理方法参考）规定均衡后、眼中央5%窗口及EH15。不能将其滤波参数搬到用户未提供的50G草稿。
2. 最坏码型脉冲响应推导
假设等概率独立的NRZ符号a_n=±1，固定抽样相位、线性定常响应：y_n=p0*a_n+sum_{k!=0}(pk*a_{n-k})。p0&gt;0。AV=2p0；EH_det=2(p0-sum abs(pk))。因此 r=sum abs(pk)/p0，EH_det/AV=1-r，VEC_det=-20log10(1-r)。r=0.30给出3.098039 dB。该关系是最坏码型包络，不是所有有限概率定义的完全等价式；若极端组合未被规定码型/概率覆盖，则必须按实际统计方法重新计算。窗口测量和时变四路交织也要另行建模。
3. 高斯低通解析模型（自建示例、非实测）
R=50e9 symbols/s，T=1/R。扣除整体传播时延后，设每一级H_i(f)=exp[-(ln2/2)*(f/B_i)^2]，B_i为幅频响应的3 dB带宽。其冲激响应是标准差 sigma_t=sqrt(ln2)/(2*pi*B_i) 的单位面积高斯。多个线性时不变级联后有1/B_eq^2=sum_i(1/B_i^2)；若N级各25GHz，B_eq=25GHz/sqrt(N)。没有额外均衡。
NRZ脉冲为宽T的矩形，中心最优抽样主抽头 p0=erf(pi*B_eq*T/sqrt(2ln2))。因冲激响应非负且直流增益为1，sum_k pk=1；故 side sum=1-p0，EH_det/AV=2-1/p0，VEC_det=-20log10(2-1/p0)。结果仅在眼高为正时有意义。高斯对称非负响应使p0在脉冲中心最大，因此这里用最佳单点抽样而不是故意选差的相位。
N=1: B=25.000GHz，p0=0.9408018245，VEC_det=0.5644954373dB；
N=2: B=17.67766953GHz，p0=0.8178327035，VEC_det=2.1887179083dB；
N=3: B=14.43375673GHz，p0=0.7239772987，VEC_det=4.1698190081dB。
在这个模型中，满足3dB的最坏码型眼高要求 B_eq/R &gt;=0.3208285093，即50GBd时B_eq&gt;=16.04142547GHz。该数值不是任意拓扑或任意参考均衡器的通用带宽要求。非高斯幅频/相频响应可能给出完全不同结果；只用一个带宽数值不能证明用户实际链路不可达。
统计概率补充：高斯无限尾部的严格最坏包络对应极限码型。这里是机制和包络分析；正式合规必须按草稿码型、中央窗口、CDF、RN拟合和目标概率计算，不能把本页柱图直接当作EH15合规结果。
复算MATLAB片段：R=50e9;N=1:3;B=25e9./sqrt(N);p0=erf(pi*B/R/sqrt(2*log(2)));VECdet=-20*log10(2-1./p0);
4. 噪声预算
工程上用最坏确定性包络再减高斯尾部：EH_p约等于AV*(1-r)-q*(sigma0+sigma1)。这是保守预算近似；离散ISI与高斯混合分布的精确CDF及草稿外推算法不等于简单相加。q≈8只作为10^-15数量级示例，并不是已经确认草稿概率。若sigma0=sigma1=sigma，则sigma_max=AV*(D-r)/(2q)。AV=400mV,r=0.20,q=8，sigma_max=2.301355389mV；若各3mV，则EH≈272mV,VEC≈3.349821746dB。OIF从EH6外推EH15使用EH15=EH6-3.19*(RN0+RN1)，其中EH6已经包含部分噪声尾部，不能在EH6上再完整扣8倍而重复计入。
5. 怎样严谨界定“当前实现不可达”
把草稿规定参考接收机、允许TX均衡、允许CTLE、抽样/时钟恢复、通道和工艺范围记为Omega；定义M=max_{theta in Omega}[EH_p(theta)/AV(theta)]。只有M&lt;0.7079457844时，该模型和允许条件内3dB才不可达。有限次仿真或局部优化不足以证明全局不可达，但可以作为该实现无设计余量的证据。若允许更强均衡或改变通道，上述边界可能变化。
资料（2026-10-15核对）：
[1] OIF-CEI-05.2, §13.3.11.1.1, p.289。https://www.oiforum.com/wp-content/uploads/OIF-CEI-05.2.pdf
[2] MathWorks optPulseMetric。https://www.mathworks.com/help/serdes/ref/optpulsemetric.html
[3] MathWorks Understanding IBIS-AMI Simulations。https://www.mathworks.com/help/serdes/ug/understanding-ibis-ami-simulations.html
[4] MathWorks qfunc（正态尾概率定义）。https://www.mathworks.com/help/comm/ref/qfunc.html
可比性提醒：Keysight N109256CB MOI, 4th ed. Aug2021, p.186 Table9，引用OIF2014.277.09，TP4 NRZ VEC限值5.5dB；不是用户3dB草稿的正式依据，也不能仅据此主张现行标准应改成5.5dB。https://www.keysight.com/ml/en/assets/9921-02554/reference-guides/N109256CB-OIF-CEI-56G-Test-Software-MOI-2-0-26-0.pdf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oiforum.com/wp-content/uploads/OIF-CEI-05.2.pdf" TargetMode="External"/><Relationship Id="rId2" Type="http://schemas.openxmlformats.org/officeDocument/2006/relationships/hyperlink" Target="https://www.mathworks.com/help/serdes/ref/optpulsemetric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338328"/>
            <a:ext cx="68580" cy="502920"/>
          </a:xfrm>
          <a:prstGeom prst="rect">
            <a:avLst/>
          </a:prstGeom>
          <a:solidFill>
            <a:srgbClr val="087F8C"/>
          </a:solidFill>
          <a:ln w="1016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10896"/>
            <a:ext cx="130759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50G NRZ：3 dB VEC 在有限带宽下为何可能过严？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950976"/>
            <a:ext cx="1307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理论论据：即使没有随机噪声和抖动，有限带宽产生的残余 ISI 也可能先用尽预算。</a:t>
            </a:r>
            <a:endParaRPr lang="en-US" sz="1730" dirty="0"/>
          </a:p>
        </p:txBody>
      </p:sp>
      <p:sp>
        <p:nvSpPr>
          <p:cNvPr id="5" name="Shape 3"/>
          <p:cNvSpPr/>
          <p:nvPr/>
        </p:nvSpPr>
        <p:spPr>
          <a:xfrm>
            <a:off x="475488" y="1399032"/>
            <a:ext cx="13679424" cy="0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618488"/>
            <a:ext cx="3959352" cy="5074920"/>
          </a:xfrm>
          <a:prstGeom prst="roundRect">
            <a:avLst>
              <a:gd name="adj" fmla="val 2771"/>
            </a:avLst>
          </a:prstGeom>
          <a:solidFill>
            <a:srgbClr val="FFFFFF"/>
          </a:solidFill>
          <a:ln w="10160">
            <a:solidFill>
              <a:srgbClr val="D9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08576" y="1618488"/>
            <a:ext cx="5202936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D9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5248" y="1618488"/>
            <a:ext cx="4169664" cy="50749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0160">
            <a:solidFill>
              <a:srgbClr val="D9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856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7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 3 dB 究竟有多严？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2376" y="2313432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4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VEC = 20 log₁₀(AV / EHₚ)  [1]</a:t>
            </a:r>
            <a:endParaRPr lang="en-US" sz="1940" dirty="0"/>
          </a:p>
        </p:txBody>
      </p:sp>
      <p:sp>
        <p:nvSpPr>
          <p:cNvPr id="11" name="Text 9"/>
          <p:cNvSpPr/>
          <p:nvPr/>
        </p:nvSpPr>
        <p:spPr>
          <a:xfrm>
            <a:off x="722376" y="27797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87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EHₚ / AV ≥ 70.8%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22376" y="3319272"/>
            <a:ext cx="344728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29.2%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758952" y="412394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ISI 与噪声合计允许消耗的眼高</a:t>
            </a:r>
            <a:endParaRPr lang="en-US" sz="1630" dirty="0"/>
          </a:p>
        </p:txBody>
      </p:sp>
      <p:sp>
        <p:nvSpPr>
          <p:cNvPr id="14" name="Shape 12"/>
          <p:cNvSpPr/>
          <p:nvPr/>
        </p:nvSpPr>
        <p:spPr>
          <a:xfrm>
            <a:off x="749808" y="4590288"/>
            <a:ext cx="3401568" cy="0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800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 = (Σₖ≠₀ |pₖ|) / p₀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9808" y="5285232"/>
            <a:ext cx="34381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83B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VECdet = −20 log₁₀(1 − r)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22376" y="5824728"/>
            <a:ext cx="3447288" cy="539496"/>
          </a:xfrm>
          <a:prstGeom prst="roundRect">
            <a:avLst>
              <a:gd name="adj" fmla="val 8475"/>
            </a:avLst>
          </a:prstGeom>
          <a:solidFill>
            <a:srgbClr val="FFF1E8"/>
          </a:solidFill>
          <a:ln w="10160">
            <a:solidFill>
              <a:srgbClr val="FFF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5879592"/>
            <a:ext cx="3172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C65B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残余 ISI = 30% → 无噪声也有 3.10 dB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864608" y="1856232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7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多级限带：无噪声也会超标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64608" y="2313432"/>
            <a:ext cx="46725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解析示例：N 段 25 GHz 高斯低通串联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64608" y="274320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 GBd · 最优抽样 · 无噪声/抖动 · 无额外均衡</a:t>
            </a:r>
            <a:endParaRPr lang="en-US" sz="1310" dirty="0"/>
          </a:p>
        </p:txBody>
      </p:sp>
      <p:sp>
        <p:nvSpPr>
          <p:cNvPr id="22" name="Text 20"/>
          <p:cNvSpPr/>
          <p:nvPr/>
        </p:nvSpPr>
        <p:spPr>
          <a:xfrm>
            <a:off x="4864608" y="3172968"/>
            <a:ext cx="4672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87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B_eq = 25 / √N  GHz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04104" y="5577840"/>
            <a:ext cx="3950208" cy="0"/>
          </a:xfrm>
          <a:prstGeom prst="line">
            <a:avLst/>
          </a:prstGeom>
          <a:noFill/>
          <a:ln w="13970">
            <a:solidFill>
              <a:srgbClr val="AEBE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38344" y="54864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04104" y="5221224"/>
            <a:ext cx="3950208" cy="0"/>
          </a:xfrm>
          <a:prstGeom prst="line">
            <a:avLst/>
          </a:prstGeom>
          <a:noFill/>
          <a:ln w="7620">
            <a:solidFill>
              <a:srgbClr val="E7E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38344" y="51297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04104" y="4864608"/>
            <a:ext cx="3950208" cy="0"/>
          </a:xfrm>
          <a:prstGeom prst="line">
            <a:avLst/>
          </a:prstGeom>
          <a:noFill/>
          <a:ln w="762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38344" y="47731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04104" y="4507992"/>
            <a:ext cx="3950208" cy="0"/>
          </a:xfrm>
          <a:prstGeom prst="line">
            <a:avLst/>
          </a:prstGeom>
          <a:noFill/>
          <a:ln w="7620">
            <a:solidFill>
              <a:srgbClr val="E7EE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8344" y="441655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04104" y="4151376"/>
            <a:ext cx="3950208" cy="0"/>
          </a:xfrm>
          <a:prstGeom prst="line">
            <a:avLst/>
          </a:prstGeom>
          <a:noFill/>
          <a:ln w="7620">
            <a:solidFill>
              <a:srgbClr val="E7EE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38344" y="405993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04104" y="3794760"/>
            <a:ext cx="3950208" cy="0"/>
          </a:xfrm>
          <a:prstGeom prst="line">
            <a:avLst/>
          </a:prstGeom>
          <a:noFill/>
          <a:ln w="7620">
            <a:solidFill>
              <a:srgbClr val="E7EE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38344" y="37033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48072" y="356616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VECdet (dB)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60720" y="5376532"/>
            <a:ext cx="658368" cy="201308"/>
          </a:xfrm>
          <a:prstGeom prst="rect">
            <a:avLst/>
          </a:prstGeom>
          <a:solidFill>
            <a:srgbClr val="087F8C"/>
          </a:solidFill>
          <a:ln w="10160">
            <a:solidFill>
              <a:srgbClr val="087F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14416" y="5038204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0.56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623560" y="570585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3B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= 1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486400" y="601675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25.0 GHz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013448" y="4797308"/>
            <a:ext cx="658368" cy="780532"/>
          </a:xfrm>
          <a:prstGeom prst="rect">
            <a:avLst/>
          </a:prstGeom>
          <a:solidFill>
            <a:srgbClr val="087F8C"/>
          </a:solidFill>
          <a:ln w="10160">
            <a:solidFill>
              <a:srgbClr val="087F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67144" y="4458980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2.19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876288" y="570585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3B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= 2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739128" y="601675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17.7 GHz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266176" y="4090816"/>
            <a:ext cx="658368" cy="1487024"/>
          </a:xfrm>
          <a:prstGeom prst="rect">
            <a:avLst/>
          </a:prstGeom>
          <a:solidFill>
            <a:srgbClr val="C65B25"/>
          </a:solidFill>
          <a:ln w="10160">
            <a:solidFill>
              <a:srgbClr val="C65B2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19872" y="3752488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5B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4.17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8129016" y="570585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3B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= 3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7991856" y="601675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14.4 GHz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404104" y="4507992"/>
            <a:ext cx="3950208" cy="0"/>
          </a:xfrm>
          <a:prstGeom prst="line">
            <a:avLst/>
          </a:prstGeom>
          <a:noFill/>
          <a:ln w="19050">
            <a:solidFill>
              <a:srgbClr val="BA3F37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9400032" y="438454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A3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dB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64608" y="6391656"/>
            <a:ext cx="4672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C65B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三段串联：VECdet = 4.17 dB &gt; 3 dB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10241280" y="1856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7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留给噪声的余量有多小？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241280" y="23134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高斯尾部预算（工程近似）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0241280" y="2743200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3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 + q(σ₁ + σ₀) / AV ≤ 0.292</a:t>
            </a:r>
            <a:endParaRPr lang="en-US" sz="1730" dirty="0"/>
          </a:p>
        </p:txBody>
      </p:sp>
      <p:sp>
        <p:nvSpPr>
          <p:cNvPr id="54" name="Text 52"/>
          <p:cNvSpPr/>
          <p:nvPr/>
        </p:nvSpPr>
        <p:spPr>
          <a:xfrm>
            <a:off x="10241280" y="3227832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示例：AV = 400 mV，r = 20%，q ≈ 8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0241280" y="3703320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3B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σ₀ = σ₁ ≤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10241280" y="406908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2.3 mV</a:t>
            </a:r>
            <a:endParaRPr lang="en-US" sz="4200" dirty="0"/>
          </a:p>
        </p:txBody>
      </p:sp>
      <p:sp>
        <p:nvSpPr>
          <p:cNvPr id="57" name="Text 55"/>
          <p:cNvSpPr/>
          <p:nvPr/>
        </p:nvSpPr>
        <p:spPr>
          <a:xfrm>
            <a:off x="10277856" y="4745736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每个电平允许的 RMS 噪声</a:t>
            </a:r>
            <a:endParaRPr lang="en-US" sz="1580" dirty="0"/>
          </a:p>
        </p:txBody>
      </p:sp>
      <p:sp>
        <p:nvSpPr>
          <p:cNvPr id="58" name="Shape 56"/>
          <p:cNvSpPr/>
          <p:nvPr/>
        </p:nvSpPr>
        <p:spPr>
          <a:xfrm>
            <a:off x="10241280" y="5239512"/>
            <a:ext cx="3657600" cy="0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241280" y="5431536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3B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若各有 3 mV 噪声：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241280" y="5797296"/>
            <a:ext cx="3648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183B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EHₚ ≈ 320 − 8 × 6 = 272 mV</a:t>
            </a:r>
            <a:endParaRPr lang="en-US" sz="1510" dirty="0"/>
          </a:p>
        </p:txBody>
      </p:sp>
      <p:sp>
        <p:nvSpPr>
          <p:cNvPr id="61" name="Shape 59"/>
          <p:cNvSpPr/>
          <p:nvPr/>
        </p:nvSpPr>
        <p:spPr>
          <a:xfrm>
            <a:off x="10241280" y="6217920"/>
            <a:ext cx="3648456" cy="356616"/>
          </a:xfrm>
          <a:prstGeom prst="roundRect">
            <a:avLst>
              <a:gd name="adj" fmla="val 12821"/>
            </a:avLst>
          </a:prstGeom>
          <a:solidFill>
            <a:srgbClr val="FFF1E8"/>
          </a:solidFill>
          <a:ln w="10160">
            <a:solidFill>
              <a:srgbClr val="FFF1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405872" y="62407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65B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VEC ≈ 3.35 dB   →   超标</a:t>
            </a:r>
            <a:endParaRPr lang="en-US" sz="1700" dirty="0"/>
          </a:p>
        </p:txBody>
      </p:sp>
      <p:sp>
        <p:nvSpPr>
          <p:cNvPr id="63" name="Shape 61"/>
          <p:cNvSpPr/>
          <p:nvPr/>
        </p:nvSpPr>
        <p:spPr>
          <a:xfrm>
            <a:off x="475488" y="6876288"/>
            <a:ext cx="13679424" cy="704088"/>
          </a:xfrm>
          <a:prstGeom prst="roundRect">
            <a:avLst>
              <a:gd name="adj" fmla="val 10390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2376" y="70500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评审结论</a:t>
            </a:r>
            <a:endParaRPr lang="en-US" sz="1700" dirty="0"/>
          </a:p>
        </p:txBody>
      </p:sp>
      <p:sp>
        <p:nvSpPr>
          <p:cNvPr id="65" name="Text 63"/>
          <p:cNvSpPr/>
          <p:nvPr/>
        </p:nvSpPr>
        <p:spPr>
          <a:xfrm>
            <a:off x="1965960" y="6995160"/>
            <a:ext cx="11850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应评估“限值—通道—参考均衡能力”是否匹配，而不是把仿真不达标都归因于调参。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965960" y="7306056"/>
            <a:ext cx="1185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7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dB 并非普遍不可实现；当前实现的不可达判据是：在所有允许配置中，最优 EHₚ/AV 仍小于 0.708。</a:t>
            </a:r>
            <a:endParaRPr lang="en-US" sz="1180" dirty="0"/>
          </a:p>
        </p:txBody>
      </p:sp>
      <p:sp>
        <p:nvSpPr>
          <p:cNvPr id="67" name="Text 65"/>
          <p:cNvSpPr/>
          <p:nvPr/>
        </p:nvSpPr>
        <p:spPr>
          <a:xfrm>
            <a:off x="512064" y="7708392"/>
            <a:ext cx="1362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模型边界：r 与柱图按最坏码型眼高计算；高斯通道为假设示例，不代表你的实际链路。q≈8 仅示意 10⁻¹⁵ 量级尾部，草稿的概率和参考均衡须另核对。</a:t>
            </a:r>
            <a:endParaRPr lang="en-US" sz="1040" dirty="0"/>
          </a:p>
        </p:txBody>
      </p:sp>
      <p:sp>
        <p:nvSpPr>
          <p:cNvPr id="68" name="Text 66">
            <a:hlinkClick r:id="rId1" tooltip=""/>
          </p:cNvPr>
          <p:cNvSpPr/>
          <p:nvPr/>
        </p:nvSpPr>
        <p:spPr>
          <a:xfrm>
            <a:off x="512064" y="7982712"/>
            <a:ext cx="6501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u="sng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OIF-CEI-05.2 §13.3.11.1.1（NRZ 定义参考，非 50G 草稿）</a:t>
            </a:r>
            <a:endParaRPr lang="en-US" sz="950" dirty="0"/>
          </a:p>
        </p:txBody>
      </p:sp>
      <p:sp>
        <p:nvSpPr>
          <p:cNvPr id="69" name="Text 67">
            <a:hlinkClick r:id="rId2" tooltip=""/>
          </p:cNvPr>
          <p:cNvSpPr/>
          <p:nvPr/>
        </p:nvSpPr>
        <p:spPr>
          <a:xfrm>
            <a:off x="7031736" y="798271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u="sng" dirty="0">
                <a:solidFill>
                  <a:srgbClr val="60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 MathWorks：IBIS-AMI / optPulseMetric（脉冲响应分析）  ·  完整推导见备注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Technical Analysis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50G NRZ：3 dB VEC 在有限带宽下为何可能过严？</dc:title>
  <dc:subject>50G NRZ TP4 VEC 3 dB 的解析眼高预算与适用边界</dc:subject>
  <dc:creator>OpenAI</dc:creator>
  <cp:lastModifiedBy>OpenAI</cp:lastModifiedBy>
  <cp:revision>1</cp:revision>
  <dcterms:created xsi:type="dcterms:W3CDTF">2026-10-15T03:36:32Z</dcterms:created>
  <dcterms:modified xsi:type="dcterms:W3CDTF">2026-10-15T03:36:32Z</dcterms:modified>
</cp:coreProperties>
</file>